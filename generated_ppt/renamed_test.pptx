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2809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</a:rPr>
              <a:t>123课程大纲</a:t>
            </a:r>
            <a:endParaRPr lang="en-US" sz="4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A89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28090"/>
                </a:solidFill>
              </a:rPr>
              <a:t>目录</a:t>
            </a:r>
            <a:endParaRPr lang="en-US" sz="4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A89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28090"/>
                </a:solidFill>
              </a:rPr>
              <a:t>第1章 数字认知</a:t>
            </a:r>
            <a:endParaRPr lang="en-US" sz="4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28090"/>
                </a:solidFill>
              </a:rPr>
              <a:t>认识数字1-10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000"/>
              </a:lnSpc>
              <a:buNone/>
            </a:pPr>
            <a:r>
              <a:rPr lang="en-US" sz="1800" dirty="0">
                <a:solidFill>
                  <a:srgbClr val="333333"/>
                </a:solidFill>
              </a:rPr>
              <a:t>• 数字1-10的认读</a:t>
            </a:r>
            <a:endParaRPr lang="en-US" sz="1800" dirty="0"/>
          </a:p>
          <a:p>
            <a:pPr indent="0" marL="0">
              <a:lnSpc>
                <a:spcPts val="3000"/>
              </a:lnSpc>
              <a:buNone/>
            </a:pPr>
            <a:r>
              <a:rPr lang="en-US" sz="1800" dirty="0">
                <a:solidFill>
                  <a:srgbClr val="333333"/>
                </a:solidFill>
              </a:rPr>
              <a:t>• 数量对应关系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28090"/>
                </a:solidFill>
              </a:rPr>
              <a:t>认识数字11-20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000"/>
              </a:lnSpc>
              <a:buNone/>
            </a:pPr>
            <a:r>
              <a:rPr lang="en-US" sz="1800" dirty="0">
                <a:solidFill>
                  <a:srgbClr val="333333"/>
                </a:solidFill>
              </a:rPr>
              <a:t>• 两位数组成</a:t>
            </a:r>
            <a:endParaRPr lang="en-US" sz="1800" dirty="0"/>
          </a:p>
          <a:p>
            <a:pPr indent="0" marL="0">
              <a:lnSpc>
                <a:spcPts val="3000"/>
              </a:lnSpc>
              <a:buNone/>
            </a:pPr>
            <a:r>
              <a:rPr lang="en-US" sz="1800" dirty="0">
                <a:solidFill>
                  <a:srgbClr val="333333"/>
                </a:solidFill>
              </a:rPr>
              <a:t>• 十位概念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28090"/>
                </a:solidFill>
              </a:rPr>
              <a:t>认识数字21-100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000"/>
              </a:lnSpc>
              <a:buNone/>
            </a:pPr>
            <a:r>
              <a:rPr lang="en-US" sz="1800" dirty="0">
                <a:solidFill>
                  <a:srgbClr val="333333"/>
                </a:solidFill>
              </a:rPr>
              <a:t>• 大数认读</a:t>
            </a:r>
            <a:endParaRPr lang="en-US" sz="1800" dirty="0"/>
          </a:p>
          <a:p>
            <a:pPr indent="0" marL="0">
              <a:lnSpc>
                <a:spcPts val="3000"/>
              </a:lnSpc>
              <a:buNone/>
            </a:pPr>
            <a:r>
              <a:rPr lang="en-US" sz="1800" dirty="0">
                <a:solidFill>
                  <a:srgbClr val="333333"/>
                </a:solidFill>
              </a:rPr>
              <a:t>• 数数规律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A89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28090"/>
                </a:solidFill>
              </a:rPr>
              <a:t>第2章 数字书写</a:t>
            </a:r>
            <a:endParaRPr lang="en-US" sz="4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28090"/>
                </a:solidFill>
              </a:rPr>
              <a:t>数字1-5的书写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000"/>
              </a:lnSpc>
              <a:buNone/>
            </a:pPr>
            <a:r>
              <a:rPr lang="en-US" sz="1800" dirty="0">
                <a:solidFill>
                  <a:srgbClr val="333333"/>
                </a:solidFill>
              </a:rPr>
              <a:t>• 笔画顺序</a:t>
            </a:r>
            <a:endParaRPr lang="en-US" sz="1800" dirty="0"/>
          </a:p>
          <a:p>
            <a:pPr indent="0" marL="0">
              <a:lnSpc>
                <a:spcPts val="3000"/>
              </a:lnSpc>
              <a:buNone/>
            </a:pPr>
            <a:r>
              <a:rPr lang="en-US" sz="1800" dirty="0">
                <a:solidFill>
                  <a:srgbClr val="333333"/>
                </a:solidFill>
              </a:rPr>
              <a:t>• 书写规范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28090"/>
                </a:solidFill>
              </a:rPr>
              <a:t>数字6-9的书写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000"/>
              </a:lnSpc>
              <a:buNone/>
            </a:pPr>
            <a:r>
              <a:rPr lang="en-US" sz="1800" dirty="0">
                <a:solidFill>
                  <a:srgbClr val="333333"/>
                </a:solidFill>
              </a:rPr>
              <a:t>• 易混淆数字区分</a:t>
            </a:r>
            <a:endParaRPr lang="en-US" sz="1800" dirty="0"/>
          </a:p>
          <a:p>
            <a:pPr indent="0" marL="0">
              <a:lnSpc>
                <a:spcPts val="3000"/>
              </a:lnSpc>
              <a:buNone/>
            </a:pPr>
            <a:r>
              <a:rPr lang="en-US" sz="1800" dirty="0">
                <a:solidFill>
                  <a:srgbClr val="333333"/>
                </a:solidFill>
              </a:rPr>
              <a:t>• 笔画准确性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28090"/>
                </a:solidFill>
              </a:rPr>
              <a:t>数字0和两位数书写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000"/>
              </a:lnSpc>
              <a:buNone/>
            </a:pPr>
            <a:r>
              <a:rPr lang="en-US" sz="1800" dirty="0">
                <a:solidFill>
                  <a:srgbClr val="333333"/>
                </a:solidFill>
              </a:rPr>
              <a:t>• 0的书写</a:t>
            </a:r>
            <a:endParaRPr lang="en-US" sz="1800" dirty="0"/>
          </a:p>
          <a:p>
            <a:pPr indent="0" marL="0">
              <a:lnSpc>
                <a:spcPts val="3000"/>
              </a:lnSpc>
              <a:buNone/>
            </a:pPr>
            <a:r>
              <a:rPr lang="en-US" sz="1800" dirty="0">
                <a:solidFill>
                  <a:srgbClr val="333333"/>
                </a:solidFill>
              </a:rPr>
              <a:t>• 两位数格式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0A89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28090"/>
                </a:solidFill>
              </a:rPr>
              <a:t>第3章 基础运算</a:t>
            </a:r>
            <a:endParaRPr lang="en-US" sz="4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28090"/>
                </a:solidFill>
              </a:rPr>
              <a:t>10以内加法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000"/>
              </a:lnSpc>
              <a:buNone/>
            </a:pPr>
            <a:r>
              <a:rPr lang="en-US" sz="1800" dirty="0">
                <a:solidFill>
                  <a:srgbClr val="333333"/>
                </a:solidFill>
              </a:rPr>
              <a:t>• 加法意义</a:t>
            </a:r>
            <a:endParaRPr lang="en-US" sz="1800" dirty="0"/>
          </a:p>
          <a:p>
            <a:pPr indent="0" marL="0">
              <a:lnSpc>
                <a:spcPts val="3000"/>
              </a:lnSpc>
              <a:buNone/>
            </a:pPr>
            <a:r>
              <a:rPr lang="en-US" sz="1800" dirty="0">
                <a:solidFill>
                  <a:srgbClr val="333333"/>
                </a:solidFill>
              </a:rPr>
              <a:t>• 凑十法</a:t>
            </a:r>
            <a:endParaRPr lang="en-US" sz="1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28090"/>
                </a:solidFill>
              </a:rPr>
              <a:t>10以内减法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000"/>
              </a:lnSpc>
              <a:buNone/>
            </a:pPr>
            <a:r>
              <a:rPr lang="en-US" sz="1800" dirty="0">
                <a:solidFill>
                  <a:srgbClr val="333333"/>
                </a:solidFill>
              </a:rPr>
              <a:t>• 减法意义</a:t>
            </a:r>
            <a:endParaRPr lang="en-US" sz="1800" dirty="0"/>
          </a:p>
          <a:p>
            <a:pPr indent="0" marL="0">
              <a:lnSpc>
                <a:spcPts val="3000"/>
              </a:lnSpc>
              <a:buNone/>
            </a:pPr>
            <a:r>
              <a:rPr lang="en-US" sz="1800" dirty="0">
                <a:solidFill>
                  <a:srgbClr val="333333"/>
                </a:solidFill>
              </a:rPr>
              <a:t>• 逆运算关系</a:t>
            </a:r>
            <a:endParaRPr lang="en-US" sz="1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28090"/>
                </a:solidFill>
              </a:rPr>
              <a:t>简单应用题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000"/>
              </a:lnSpc>
              <a:buNone/>
            </a:pPr>
            <a:r>
              <a:rPr lang="en-US" sz="1800" dirty="0">
                <a:solidFill>
                  <a:srgbClr val="333333"/>
                </a:solidFill>
              </a:rPr>
              <a:t>• 题意理解</a:t>
            </a:r>
            <a:endParaRPr lang="en-US" sz="1800" dirty="0"/>
          </a:p>
          <a:p>
            <a:pPr indent="0" marL="0">
              <a:lnSpc>
                <a:spcPts val="3000"/>
              </a:lnSpc>
              <a:buNone/>
            </a:pPr>
            <a:r>
              <a:rPr lang="en-US" sz="1800" dirty="0">
                <a:solidFill>
                  <a:srgbClr val="333333"/>
                </a:solidFill>
              </a:rPr>
              <a:t>• 列式计算</a:t>
            </a:r>
            <a:endParaRPr lang="en-US" sz="1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0A89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28090"/>
                </a:solidFill>
              </a:rPr>
              <a:t>总结</a:t>
            </a:r>
            <a:endParaRPr lang="en-US" sz="4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28090"/>
                </a:solidFill>
              </a:rPr>
              <a:t>课程回顾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000"/>
              </a:lnSpc>
              <a:buNone/>
            </a:pPr>
            <a:r>
              <a:rPr lang="en-US" sz="1800" dirty="0">
                <a:solidFill>
                  <a:srgbClr val="333333"/>
                </a:solidFill>
              </a:rPr>
              <a:t>• 掌握1-100数字的认读写能力，建立基础的数感和简单运算能力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123课程大纲</dc:title>
  <dc:subject>PptxGenJS Presentation</dc:subject>
  <dc:creator>MiniMax Agent</dc:creator>
  <cp:lastModifiedBy>MiniMax Agent</cp:lastModifiedBy>
  <cp:revision>1</cp:revision>
  <dcterms:created xsi:type="dcterms:W3CDTF">2026-04-22T12:34:10Z</dcterms:created>
  <dcterms:modified xsi:type="dcterms:W3CDTF">2026-04-22T12:34:10Z</dcterms:modified>
</cp:coreProperties>
</file>